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0000"/>
    <a:srgbClr val="F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92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03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09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92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33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392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844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13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75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73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19915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7285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78609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660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2176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4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5DDC5-B33A-4812-9F51-265C474A7180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528AB03-6DB1-4781-ABB2-BE566AFFC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57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3E245E-A4B2-751C-78BD-9B79826D5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211199-CE70-9BDB-86AB-0B55FAFF8B74}"/>
              </a:ext>
            </a:extLst>
          </p:cNvPr>
          <p:cNvSpPr txBox="1"/>
          <p:nvPr/>
        </p:nvSpPr>
        <p:spPr>
          <a:xfrm>
            <a:off x="1710813" y="619431"/>
            <a:ext cx="89424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EA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PIZZA SALES ANALYSIS USING SQL</a:t>
            </a:r>
          </a:p>
        </p:txBody>
      </p:sp>
    </p:spTree>
    <p:extLst>
      <p:ext uri="{BB962C8B-B14F-4D97-AF65-F5344CB8AC3E}">
        <p14:creationId xmlns:p14="http://schemas.microsoft.com/office/powerpoint/2010/main" val="2247897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77FB99-3525-2169-A745-1D3581535CDB}"/>
              </a:ext>
            </a:extLst>
          </p:cNvPr>
          <p:cNvSpPr txBox="1"/>
          <p:nvPr/>
        </p:nvSpPr>
        <p:spPr>
          <a:xfrm>
            <a:off x="2743200" y="491612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OVERVIEW :</a:t>
            </a:r>
            <a:endParaRPr lang="en-IN" sz="1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722857-D836-6935-8331-0C7F79494439}"/>
              </a:ext>
            </a:extLst>
          </p:cNvPr>
          <p:cNvSpPr txBox="1"/>
          <p:nvPr/>
        </p:nvSpPr>
        <p:spPr>
          <a:xfrm>
            <a:off x="2743200" y="1182231"/>
            <a:ext cx="81312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This project focuses on the analysis of pizza sales data to gain insights into customer preferences, revenue generation, and order patterns. </a:t>
            </a:r>
          </a:p>
          <a:p>
            <a:pPr algn="just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The dataset used in this analysis contains information about pizza sales during the year 2015.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This project analyzes a pizza sales dataset using SQL queries.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By examining the data, my aim is to uncover valuable insights that can help inform business decisions and optimize the pizza sales operations.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5840DD-F7B5-52A1-7493-C9098D74B971}"/>
              </a:ext>
            </a:extLst>
          </p:cNvPr>
          <p:cNvSpPr txBox="1"/>
          <p:nvPr/>
        </p:nvSpPr>
        <p:spPr>
          <a:xfrm>
            <a:off x="2635045" y="4377285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Tools &amp; Technologies Used :</a:t>
            </a:r>
            <a:endParaRPr lang="en-IN" sz="1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7A0F3-3948-EEA3-C288-769F26EDCDD3}"/>
              </a:ext>
            </a:extLst>
          </p:cNvPr>
          <p:cNvSpPr txBox="1"/>
          <p:nvPr/>
        </p:nvSpPr>
        <p:spPr>
          <a:xfrm>
            <a:off x="2743199" y="4962060"/>
            <a:ext cx="8131277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MySQL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SQL Server Management Studio (SSMS)</a:t>
            </a:r>
          </a:p>
        </p:txBody>
      </p:sp>
    </p:spTree>
    <p:extLst>
      <p:ext uri="{BB962C8B-B14F-4D97-AF65-F5344CB8AC3E}">
        <p14:creationId xmlns:p14="http://schemas.microsoft.com/office/powerpoint/2010/main" val="365854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A193B6-2CA2-5DC8-B611-0D6CD2320811}"/>
              </a:ext>
            </a:extLst>
          </p:cNvPr>
          <p:cNvSpPr txBox="1"/>
          <p:nvPr/>
        </p:nvSpPr>
        <p:spPr>
          <a:xfrm>
            <a:off x="2906486" y="671226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OBJECTIVES :</a:t>
            </a:r>
            <a:endParaRPr lang="en-IN" sz="1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881F5D-9100-F748-5C7C-DDE16E92745D}"/>
              </a:ext>
            </a:extLst>
          </p:cNvPr>
          <p:cNvSpPr txBox="1"/>
          <p:nvPr/>
        </p:nvSpPr>
        <p:spPr>
          <a:xfrm>
            <a:off x="2906486" y="1256001"/>
            <a:ext cx="8131277" cy="234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Analyze total revenue generated from pizza sales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Identify the most popular pizzas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Understand sales distribution by pizza category and size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Analyze monthly order trends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Identify top revenue-generating pizzas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879C20-A4B0-4D9F-4757-A6AE365ADF41}"/>
              </a:ext>
            </a:extLst>
          </p:cNvPr>
          <p:cNvSpPr txBox="1"/>
          <p:nvPr/>
        </p:nvSpPr>
        <p:spPr>
          <a:xfrm>
            <a:off x="2906486" y="3891978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POTENTIAL :</a:t>
            </a:r>
            <a:endParaRPr lang="en-IN" sz="1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230A2B-BA56-89EC-0A3E-F276344C8038}"/>
              </a:ext>
            </a:extLst>
          </p:cNvPr>
          <p:cNvSpPr txBox="1"/>
          <p:nvPr/>
        </p:nvSpPr>
        <p:spPr>
          <a:xfrm>
            <a:off x="2906485" y="4520674"/>
            <a:ext cx="8131277" cy="1881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Understanding customer preferences and market trends is crucial for businesses to thrive in a competitive environment.  Analyzing sales data allows us to gain a deeper understanding of customer behavior, identify popular pizza choices, and recognize patterns in customer orders.</a:t>
            </a:r>
          </a:p>
        </p:txBody>
      </p:sp>
    </p:spTree>
    <p:extLst>
      <p:ext uri="{BB962C8B-B14F-4D97-AF65-F5344CB8AC3E}">
        <p14:creationId xmlns:p14="http://schemas.microsoft.com/office/powerpoint/2010/main" val="3168645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A58964-B9F1-0CAB-7AFA-C7C0CBC95FE8}"/>
              </a:ext>
            </a:extLst>
          </p:cNvPr>
          <p:cNvSpPr txBox="1"/>
          <p:nvPr/>
        </p:nvSpPr>
        <p:spPr>
          <a:xfrm>
            <a:off x="2286000" y="658921"/>
            <a:ext cx="86425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 DESCRIPTION:</a:t>
            </a:r>
            <a:endParaRPr lang="en-IN" sz="1400" b="1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F2FDBB-DD9E-BC68-7521-2EA9D5E5B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250356"/>
              </p:ext>
            </p:extLst>
          </p:nvPr>
        </p:nvGraphicFramePr>
        <p:xfrm>
          <a:off x="2300748" y="1476203"/>
          <a:ext cx="8554064" cy="4510286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442513">
                  <a:extLst>
                    <a:ext uri="{9D8B030D-6E8A-4147-A177-3AD203B41FA5}">
                      <a16:colId xmlns:a16="http://schemas.microsoft.com/office/drawing/2014/main" val="586144362"/>
                    </a:ext>
                  </a:extLst>
                </a:gridCol>
                <a:gridCol w="6111551">
                  <a:extLst>
                    <a:ext uri="{9D8B030D-6E8A-4147-A177-3AD203B41FA5}">
                      <a16:colId xmlns:a16="http://schemas.microsoft.com/office/drawing/2014/main" val="2522113101"/>
                    </a:ext>
                  </a:extLst>
                </a:gridCol>
              </a:tblGrid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Column Name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2982197104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pizza_id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identifier for each pizza record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4122355952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order_id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identifier for each order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3197666842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pizza_name_id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Identifier for pizza type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1915150447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quantity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Number of pizzas ordered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3844261378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order_date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 when the order was placed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187911419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order_time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Time when the order was placed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493667277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unit_price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Price of one pizza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3143083491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total_price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 price for the order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3499702760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pizza_size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 of pizza (S, M, L, XL, XXL)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2652617673"/>
                  </a:ext>
                </a:extLst>
              </a:tr>
              <a:tr h="3888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pizza_category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 of pizza (Classic, Chicken, Veggie, Supreme)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826705862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pizza_ingredients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Ingredients used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2965154863"/>
                  </a:ext>
                </a:extLst>
              </a:tr>
              <a:tr h="3434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pizza_name</a:t>
                      </a:r>
                    </a:p>
                  </a:txBody>
                  <a:tcPr marL="70658" marR="70658" marT="35329" marB="3532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 of the pizza</a:t>
                      </a:r>
                    </a:p>
                  </a:txBody>
                  <a:tcPr marL="70658" marR="70658" marT="35329" marB="35329" anchor="ctr"/>
                </a:tc>
                <a:extLst>
                  <a:ext uri="{0D108BD9-81ED-4DB2-BD59-A6C34878D82A}">
                    <a16:rowId xmlns:a16="http://schemas.microsoft.com/office/drawing/2014/main" val="2121485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62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E9FBC4-5926-12CE-3909-58C96799E98B}"/>
              </a:ext>
            </a:extLst>
          </p:cNvPr>
          <p:cNvSpPr txBox="1"/>
          <p:nvPr/>
        </p:nvSpPr>
        <p:spPr>
          <a:xfrm>
            <a:off x="2135882" y="657181"/>
            <a:ext cx="698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BASIC QUERIES: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883D4E-097F-EA8E-A419-CF3634E20E3F}"/>
              </a:ext>
            </a:extLst>
          </p:cNvPr>
          <p:cNvSpPr txBox="1"/>
          <p:nvPr/>
        </p:nvSpPr>
        <p:spPr>
          <a:xfrm>
            <a:off x="2135882" y="1180401"/>
            <a:ext cx="8707211" cy="496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2000" b="1" kern="1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What is the total revenue generated from all pizza sales?</a:t>
            </a:r>
            <a:endParaRPr lang="en-IN" sz="2000" kern="1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FC46DF-D146-C855-CB48-A6878FF35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958" y="1758189"/>
            <a:ext cx="5671642" cy="19092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2DB4CB-596C-0D6A-349C-3B188861D92E}"/>
              </a:ext>
            </a:extLst>
          </p:cNvPr>
          <p:cNvSpPr txBox="1"/>
          <p:nvPr/>
        </p:nvSpPr>
        <p:spPr>
          <a:xfrm>
            <a:off x="2135881" y="3889188"/>
            <a:ext cx="870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2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. How many total distinct orders were placed?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938178-0435-66FA-84EC-FAA6385ED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956" y="4545673"/>
            <a:ext cx="5209527" cy="175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2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228227-600D-9A68-1784-6D0013FB323C}"/>
              </a:ext>
            </a:extLst>
          </p:cNvPr>
          <p:cNvSpPr txBox="1"/>
          <p:nvPr/>
        </p:nvSpPr>
        <p:spPr>
          <a:xfrm>
            <a:off x="2017894" y="713369"/>
            <a:ext cx="870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3. What is the total number of pizzas sold?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AC6689-E547-2318-EBFB-BBFC0C94B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314" y="1246896"/>
            <a:ext cx="4949885" cy="20272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9B59FD-51A9-2CDF-ED18-4C50C42853B9}"/>
              </a:ext>
            </a:extLst>
          </p:cNvPr>
          <p:cNvSpPr txBox="1"/>
          <p:nvPr/>
        </p:nvSpPr>
        <p:spPr>
          <a:xfrm>
            <a:off x="1876380" y="3453434"/>
            <a:ext cx="870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4. What is the average order value of all pizzas?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76DB5B-F6B6-870B-AD4E-C1AA4791C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5315" y="4139381"/>
            <a:ext cx="6218246" cy="205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101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06BCE7-45F0-7C08-438F-CCC41203E8E9}"/>
              </a:ext>
            </a:extLst>
          </p:cNvPr>
          <p:cNvSpPr txBox="1"/>
          <p:nvPr/>
        </p:nvSpPr>
        <p:spPr>
          <a:xfrm>
            <a:off x="2812239" y="761150"/>
            <a:ext cx="870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5. What is the max and min order value?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443DA-6A02-BB1B-CB3F-1FD05D1DA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239" y="1794820"/>
            <a:ext cx="6973142" cy="179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830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BF1B5B-6844-8D15-A5F1-7A4F58706175}"/>
              </a:ext>
            </a:extLst>
          </p:cNvPr>
          <p:cNvSpPr txBox="1"/>
          <p:nvPr/>
        </p:nvSpPr>
        <p:spPr>
          <a:xfrm>
            <a:off x="2351138" y="368605"/>
            <a:ext cx="698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INTERMEDIATE QUERIES: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5BB7C4-28A1-E5B7-EE73-FD33C8DBFEE8}"/>
              </a:ext>
            </a:extLst>
          </p:cNvPr>
          <p:cNvSpPr txBox="1"/>
          <p:nvPr/>
        </p:nvSpPr>
        <p:spPr>
          <a:xfrm>
            <a:off x="2231396" y="3720687"/>
            <a:ext cx="8707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7. What is the total quantity sold for each pizza size ordered descending?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621D57-D410-FAA7-E6D5-B4195C02E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24" y="1536019"/>
            <a:ext cx="4740904" cy="20163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249F8A-587A-C040-96D1-1A8055315328}"/>
              </a:ext>
            </a:extLst>
          </p:cNvPr>
          <p:cNvSpPr txBox="1"/>
          <p:nvPr/>
        </p:nvSpPr>
        <p:spPr>
          <a:xfrm>
            <a:off x="2231396" y="1013867"/>
            <a:ext cx="8707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6.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What is the total revenue generated by each pizza category?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03F3DB-90F5-5B36-0996-ADF492F4F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924" y="4258377"/>
            <a:ext cx="4659437" cy="248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6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D35BF3-EC36-D371-86DD-4E6F8E35B45A}"/>
              </a:ext>
            </a:extLst>
          </p:cNvPr>
          <p:cNvSpPr txBox="1"/>
          <p:nvPr/>
        </p:nvSpPr>
        <p:spPr>
          <a:xfrm>
            <a:off x="2521273" y="730979"/>
            <a:ext cx="8707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/>
              <a:t>8.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Which pizza generated the highest revenue?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817A8-3EA7-9A33-7A1F-5C39F9C9D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394" y="1592906"/>
            <a:ext cx="6803212" cy="294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850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C97DE5-F4A8-4E8B-BE5A-94B3BA0B2F7F}"/>
              </a:ext>
            </a:extLst>
          </p:cNvPr>
          <p:cNvSpPr txBox="1"/>
          <p:nvPr/>
        </p:nvSpPr>
        <p:spPr>
          <a:xfrm>
            <a:off x="2521273" y="730979"/>
            <a:ext cx="8707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9. What is the total numbers of orders placed per month?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480B81-ADAE-2456-BD8F-A76B0B04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276" y="1288026"/>
            <a:ext cx="5756787" cy="526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228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9DF3E1-E38A-8AB8-A759-A9623D99A1E3}"/>
              </a:ext>
            </a:extLst>
          </p:cNvPr>
          <p:cNvSpPr txBox="1"/>
          <p:nvPr/>
        </p:nvSpPr>
        <p:spPr>
          <a:xfrm>
            <a:off x="2521273" y="730979"/>
            <a:ext cx="8707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10. What are the top 5 best-selling pizzas based on quantity sold?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203C24-B66C-335B-84C7-BB64925EA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114" y="1349167"/>
            <a:ext cx="6294872" cy="350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967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309E51-0795-3791-6E6B-DE8210F46837}"/>
              </a:ext>
            </a:extLst>
          </p:cNvPr>
          <p:cNvSpPr txBox="1"/>
          <p:nvPr/>
        </p:nvSpPr>
        <p:spPr>
          <a:xfrm>
            <a:off x="2155195" y="678848"/>
            <a:ext cx="698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ADVANCED QUERIES: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28A29E-0885-3689-97F7-16E837EAA235}"/>
              </a:ext>
            </a:extLst>
          </p:cNvPr>
          <p:cNvSpPr txBox="1"/>
          <p:nvPr/>
        </p:nvSpPr>
        <p:spPr>
          <a:xfrm>
            <a:off x="2155195" y="1335136"/>
            <a:ext cx="8707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11. Find the second highest revenue-generating pizza using a subquery or window function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8EC5D-73CE-5BDF-8D6C-A164FB1BF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93" y="2272813"/>
            <a:ext cx="7607614" cy="376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987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4E1D92-9649-A449-5D72-A09AD47CAA90}"/>
              </a:ext>
            </a:extLst>
          </p:cNvPr>
          <p:cNvSpPr txBox="1"/>
          <p:nvPr/>
        </p:nvSpPr>
        <p:spPr>
          <a:xfrm>
            <a:off x="2122538" y="796293"/>
            <a:ext cx="8707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12. Which top 5 pizzas generate revenue higher than the average pizza revenue?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0"/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A8F53-649E-51C8-117C-DF999AFD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46" y="1442623"/>
            <a:ext cx="6796089" cy="495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4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8A7E00-9028-F906-819C-122B41FE457D}"/>
              </a:ext>
            </a:extLst>
          </p:cNvPr>
          <p:cNvSpPr txBox="1"/>
          <p:nvPr/>
        </p:nvSpPr>
        <p:spPr>
          <a:xfrm>
            <a:off x="4509055" y="649351"/>
            <a:ext cx="31738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B8E777-AA1F-81F8-0A6F-9C487B73D3DE}"/>
              </a:ext>
            </a:extLst>
          </p:cNvPr>
          <p:cNvSpPr txBox="1"/>
          <p:nvPr/>
        </p:nvSpPr>
        <p:spPr>
          <a:xfrm>
            <a:off x="2802193" y="1455174"/>
            <a:ext cx="7846142" cy="4195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business generated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$817,860.05 in total revenue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from 21,350 orders, indicating strong overall sales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 total of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49,574 pizzas were sold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showing high customer demand for pizza products.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Classic pizzas generated the highest revenue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making them the most profitable category.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Large pizzas are the most popular size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with the highest quantity sold among all sizes.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The Thai Chicken Pizza and Barbecue Chicken Pizza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are among the top revenue-generating pizzas.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112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B8A202-C28F-C4EF-7D01-920E3924EDBA}"/>
              </a:ext>
            </a:extLst>
          </p:cNvPr>
          <p:cNvSpPr txBox="1"/>
          <p:nvPr/>
        </p:nvSpPr>
        <p:spPr>
          <a:xfrm>
            <a:off x="2674374" y="713146"/>
            <a:ext cx="698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RECOMMENDATIONS: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F143FF-25B5-EA09-1DB2-B07B6A0A19B0}"/>
              </a:ext>
            </a:extLst>
          </p:cNvPr>
          <p:cNvSpPr txBox="1"/>
          <p:nvPr/>
        </p:nvSpPr>
        <p:spPr>
          <a:xfrm>
            <a:off x="2674374" y="1435509"/>
            <a:ext cx="7846142" cy="3780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Promote top-performing pizzas such as Thai Chicken and Barbecue Chicken pizzas to increase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Introduce combo offers on large pizzas, as they are the most preferred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Run seasonal promotions during low-demand months to maintain consistent sales.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Expand the Classic pizza category with new flavors since it generates the highest revenue.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sales insights to create data-driven marketing strategies and improve menu planning.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342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A603CA-2250-FE02-5A80-EBFC779C3399}"/>
              </a:ext>
            </a:extLst>
          </p:cNvPr>
          <p:cNvSpPr txBox="1"/>
          <p:nvPr/>
        </p:nvSpPr>
        <p:spPr>
          <a:xfrm>
            <a:off x="2381337" y="677372"/>
            <a:ext cx="6988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13AF3-203E-30CF-A573-32D7885A1712}"/>
              </a:ext>
            </a:extLst>
          </p:cNvPr>
          <p:cNvSpPr txBox="1"/>
          <p:nvPr/>
        </p:nvSpPr>
        <p:spPr>
          <a:xfrm>
            <a:off x="2890684" y="1533831"/>
            <a:ext cx="79149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SQL analysis of the pizza sales dataset provided valuable insights into revenue performance, customer preferences, and product demand. The business generated strong revenue with a high number of orders and pizzas sold throughout the year. 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analysis highlighted that Classic pizzas and large pizza sizes contribute significantly to sales, while certain pizzas such as Thai Chicken and Barbecue Chicken play a major role in driving revenue. </a:t>
            </a:r>
          </a:p>
          <a:p>
            <a:pPr algn="just"/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These insights can help the business make data-driven decisions, improve marketing strategies, and optimize menu offerings to enhance overall sales performance and customer satisfaction.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1933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3E6344-C457-16FD-B7F1-6E994AE12CD3}"/>
              </a:ext>
            </a:extLst>
          </p:cNvPr>
          <p:cNvSpPr txBox="1"/>
          <p:nvPr/>
        </p:nvSpPr>
        <p:spPr>
          <a:xfrm>
            <a:off x="3048000" y="2461396"/>
            <a:ext cx="7393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b="1" dirty="0">
                <a:solidFill>
                  <a:srgbClr val="C00000"/>
                </a:solidFill>
                <a:latin typeface="Lucida Bright" panose="020406020505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028254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117</TotalTime>
  <Words>701</Words>
  <Application>Microsoft Office PowerPoint</Application>
  <PresentationFormat>Widescreen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Cambria</vt:lpstr>
      <vt:lpstr>Century Gothic</vt:lpstr>
      <vt:lpstr>Lucida Bright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dasm3399@gmail.com</dc:creator>
  <cp:lastModifiedBy>dasm3399@gmail.com</cp:lastModifiedBy>
  <cp:revision>1</cp:revision>
  <dcterms:created xsi:type="dcterms:W3CDTF">2026-03-10T08:10:38Z</dcterms:created>
  <dcterms:modified xsi:type="dcterms:W3CDTF">2026-03-10T10:07:42Z</dcterms:modified>
</cp:coreProperties>
</file>